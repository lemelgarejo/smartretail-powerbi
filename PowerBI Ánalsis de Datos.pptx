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6DFB4-1473-4C48-B4CD-228F47746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B4E65E-32D3-4708-8341-DEE9891B0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531144-6D1B-4CE7-9DAC-AFD231C45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19F63B-9CE4-4477-91E8-219636EC0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BDCA1B-3F04-43C9-AB40-15847E3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7556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DCCD19-20C6-47F4-9425-978464057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2354FD-0F6A-4A2F-8E35-D65E65895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5EEE2-DE5F-4D43-98EA-DE5208F63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8E58B0-3207-42AE-96AF-D6BDD819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A7ED9F-4851-4D04-92BA-449A9149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083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2AC9E4-D45F-434F-BF40-EDAAB8FC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53379C-24B7-40C5-9B60-8DB54EFD1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DF956-AD3B-410A-A6E6-C0D066EA2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EB4CBB-8B31-4C46-BCD1-032EFB182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9AB6F4-A5AC-4610-B50D-A9014767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273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64BCD-ECF8-44F7-870D-A70ABD93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A2EDA1-F9D1-4539-BA9C-8881B0395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FFB359-384D-406D-A010-84D3A3156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1B6AF8-48E1-4DCC-BCD0-5FA5CA59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82B4F0-DB14-4C57-B49A-D7D9B3586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3210436-8E85-4A6A-876F-CF940D12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2675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3B5BF-685E-4F64-8775-84BE2E89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DD887-9417-4437-B4B5-13EAB5F3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1F602C-F5A5-497A-A4E1-641AAC1D9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C560D6-F616-403C-B7B3-A367092AF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D69A037-2D2F-4198-B8B1-537104A5F5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4CE582-A96C-4556-B8FD-BC3BEE7E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17CC696-912D-471E-A7B3-015BC9B7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36AD1EB-EA4E-4ACD-ADE8-0D14AE26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8400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52C61E-2605-4DA7-8CA4-88A23320B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B9DCB02-6D25-4E8C-B0AD-DD77A3B90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0773E5-C399-40FB-944E-3BE11199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E73153-A302-4D48-8101-619B142A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814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ABAEF39-030C-4CE7-A7E0-BB085884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B04D052-B531-41D5-99D1-01F74E2A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BDD043-4EB1-417D-920D-97202E51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982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E5288-A553-4E1F-A0B0-02C7DA6A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C2C115-9A74-4437-B7FB-21C36E81D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0D6334-AAD5-4FE9-93C1-2DABE20D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0849C0-9B90-4D48-BD21-E3E63ECDC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D7F604-7B51-4F98-8935-75B55DBFD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5989FE-4AE2-472A-8551-BE9716498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925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BF769-84AA-4B4F-8454-68A6CC110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E48AE6-A5B3-4AA3-AEBA-E1744594E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51320F-D874-4A43-9B38-7AD3544D1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FB05AD-C7CF-405F-8A36-F6A2DFC8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CFAB0F-F294-4169-B9B6-49D618F02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42FA8D-83C3-4C52-80FE-CC8002534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34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BCBA0-835A-4B16-A201-E95413FAC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7C5C92-B77A-41A8-B6E3-F5C2DC328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6F197B-CAA1-4929-84AA-F2F93265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1B1F5C-95E3-431E-952A-57BD39A2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8FF2AC-C806-45FE-84A6-F70924394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825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8D0835-E8B6-4FC4-BF30-9BB4258C0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5ADDC2-9DA9-41EE-B01D-CF3FAF09B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1C884E-EE39-48D0-B9F1-667AF3FCA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83D7F6-311C-46CC-AB7D-5500EEFB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E900D8-3A2A-4712-A09E-0CC8E471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0416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73AD9E1-E92C-4D6E-AD54-F0F09249A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185203-EFC1-4F71-82C2-7E8F439EE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5F3D5-119E-4C97-8BC6-666C874C6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486FC-1901-4339-B313-E799B8B5C579}" type="datetimeFigureOut">
              <a:rPr lang="es-CL" smtClean="0"/>
              <a:t>15-04-2026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F7D863-53A3-438B-9797-73A7F79E2E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BE0335-F3AB-4064-A12D-2821F643D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5B05B-2A30-4684-B282-D82F65B88D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814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25308-6478-495A-B541-B8F360934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err="1"/>
              <a:t>PowerBI</a:t>
            </a:r>
            <a:r>
              <a:rPr lang="es-CL" dirty="0"/>
              <a:t> Análisis de Datos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23BF75-8D46-4FCF-A61A-9E8E3B8A5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dirty="0"/>
              <a:t>Objetivo:</a:t>
            </a:r>
            <a:r>
              <a:rPr lang="es-MX" dirty="0"/>
              <a:t> habilitar un primer </a:t>
            </a:r>
            <a:r>
              <a:rPr lang="es-MX" dirty="0" err="1"/>
              <a:t>dashboard</a:t>
            </a:r>
            <a:r>
              <a:rPr lang="es-MX" dirty="0"/>
              <a:t> para entender ventas recientes e inventario actual, con datos desde CSV y Excel</a:t>
            </a:r>
            <a:endParaRPr lang="es-CL" dirty="0"/>
          </a:p>
          <a:p>
            <a:r>
              <a:rPr lang="es-CL" sz="1600" dirty="0"/>
              <a:t>Analista : Leonardo Melgarejo</a:t>
            </a:r>
          </a:p>
        </p:txBody>
      </p:sp>
    </p:spTree>
    <p:extLst>
      <p:ext uri="{BB962C8B-B14F-4D97-AF65-F5344CB8AC3E}">
        <p14:creationId xmlns:p14="http://schemas.microsoft.com/office/powerpoint/2010/main" val="346728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533D-2101-4BC8-9261-6D6C9D710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es un </a:t>
            </a:r>
            <a:r>
              <a:rPr lang="en-US" sz="3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3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BI (Business Intelligence)?</a:t>
            </a:r>
            <a:br>
              <a:rPr lang="en-US" dirty="0"/>
            </a:b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8D9BD8-BF0F-4345-A61A-A61B85650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4630271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MX" sz="2000" dirty="0"/>
              <a:t>Un sistema de BI (Business </a:t>
            </a:r>
            <a:r>
              <a:rPr lang="es-MX" sz="2000" dirty="0" err="1"/>
              <a:t>Intelligence</a:t>
            </a:r>
            <a:r>
              <a:rPr lang="es-MX" sz="2000" dirty="0"/>
              <a:t>) es un conjunto de estrategias, tecnologías y herramientas que transforman datos crudos en información significativa y útil para la toma de decisiones estratégicas y operativas. Su función principal es recopilar, gestionar y analizar datos históricos y actuales para visualizar tendencias y mejorar el rendimiento de la empresa</a:t>
            </a:r>
            <a:endParaRPr lang="es-CL" sz="20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0C10E0ED-C09C-42F4-B106-1B0DAA675B07}"/>
              </a:ext>
            </a:extLst>
          </p:cNvPr>
          <p:cNvSpPr txBox="1">
            <a:spLocks/>
          </p:cNvSpPr>
          <p:nvPr/>
        </p:nvSpPr>
        <p:spPr>
          <a:xfrm>
            <a:off x="6279776" y="2058708"/>
            <a:ext cx="46302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s-CL" sz="20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80E325-727B-4672-A2B2-48A346D1A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13" y="1783976"/>
            <a:ext cx="3937008" cy="386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8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8B44A-4D39-479C-BAAF-2B7B11F47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BI y por qué importa?</a:t>
            </a:r>
            <a:endParaRPr lang="es-CL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CFCD3B15-FC15-4AAD-9A28-F3AB02D788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735959"/>
            <a:ext cx="6172200" cy="3376556"/>
          </a:xfr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0C965B-B1F5-47F8-BA78-2785B0B2B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Conjunto de procesos y herramientas para transformar datos en información útil (</a:t>
            </a:r>
            <a:r>
              <a:rPr lang="es-CL" altLang="es-CL" dirty="0" err="1">
                <a:latin typeface="Arial" panose="020B0604020202020204" pitchFamily="34" charset="0"/>
              </a:rPr>
              <a:t>KPIs</a:t>
            </a:r>
            <a:r>
              <a:rPr lang="es-CL" altLang="es-CL" dirty="0">
                <a:latin typeface="Arial" panose="020B0604020202020204" pitchFamily="34" charset="0"/>
              </a:rPr>
              <a:t>, tendencias, alertas).</a:t>
            </a:r>
            <a:br>
              <a:rPr lang="es-CL" altLang="es-CL" dirty="0">
                <a:latin typeface="Arial" panose="020B0604020202020204" pitchFamily="34" charset="0"/>
              </a:rPr>
            </a:br>
            <a:r>
              <a:rPr lang="es-CL" altLang="es-CL" b="1" dirty="0">
                <a:latin typeface="Arial" panose="020B0604020202020204" pitchFamily="34" charset="0"/>
              </a:rPr>
              <a:t>Importancia para </a:t>
            </a:r>
            <a:r>
              <a:rPr lang="es-CL" altLang="es-CL" b="1" dirty="0" err="1">
                <a:latin typeface="Arial" panose="020B0604020202020204" pitchFamily="34" charset="0"/>
              </a:rPr>
              <a:t>SmartRetail</a:t>
            </a:r>
            <a:r>
              <a:rPr lang="es-CL" altLang="es-CL" b="1" dirty="0">
                <a:latin typeface="Arial" panose="020B0604020202020204" pitchFamily="34" charset="0"/>
              </a:rPr>
              <a:t>:</a:t>
            </a:r>
            <a:r>
              <a:rPr lang="es-CL" altLang="es-CL" dirty="0">
                <a:latin typeface="Arial" panose="020B0604020202020204" pitchFamily="34" charset="0"/>
              </a:rPr>
              <a:t>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Visibilidad de </a:t>
            </a:r>
            <a:r>
              <a:rPr lang="es-CL" altLang="es-CL" b="1" dirty="0">
                <a:latin typeface="Arial" panose="020B0604020202020204" pitchFamily="34" charset="0"/>
              </a:rPr>
              <a:t>ventas por categoría/tienda</a:t>
            </a:r>
            <a:r>
              <a:rPr lang="es-CL" altLang="es-CL" dirty="0"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Control del </a:t>
            </a:r>
            <a:r>
              <a:rPr lang="es-CL" altLang="es-CL" b="1" dirty="0">
                <a:latin typeface="Arial" panose="020B0604020202020204" pitchFamily="34" charset="0"/>
              </a:rPr>
              <a:t>stock</a:t>
            </a:r>
            <a:r>
              <a:rPr lang="es-CL" altLang="es-CL" dirty="0">
                <a:latin typeface="Arial" panose="020B0604020202020204" pitchFamily="34" charset="0"/>
              </a:rPr>
              <a:t> (bajo/normal/alto) para evitar quiebres o </a:t>
            </a:r>
            <a:r>
              <a:rPr lang="es-CL" altLang="es-CL" dirty="0" err="1">
                <a:latin typeface="Arial" panose="020B0604020202020204" pitchFamily="34" charset="0"/>
              </a:rPr>
              <a:t>sobrestock</a:t>
            </a:r>
            <a:r>
              <a:rPr lang="es-CL" altLang="es-CL" dirty="0"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Mejora la toma de decisiones con datos consistentes y actualizables. 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66596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A5F4AC-570A-4820-889F-2A1CDF853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Comparación de suites BI (</a:t>
            </a:r>
            <a:r>
              <a:rPr lang="es-CL" dirty="0" err="1"/>
              <a:t>Power</a:t>
            </a:r>
            <a:r>
              <a:rPr lang="es-CL" dirty="0"/>
              <a:t> BI vs </a:t>
            </a:r>
            <a:r>
              <a:rPr lang="es-CL" dirty="0" err="1"/>
              <a:t>Tableau</a:t>
            </a:r>
            <a:r>
              <a:rPr lang="es-CL" dirty="0"/>
              <a:t> vs </a:t>
            </a:r>
            <a:r>
              <a:rPr lang="es-CL" dirty="0" err="1"/>
              <a:t>Looker</a:t>
            </a:r>
            <a:r>
              <a:rPr lang="es-CL" dirty="0"/>
              <a:t> Studio)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8D37B3-686D-4B8F-AB81-6DD9C9630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21424" cy="3535269"/>
          </a:xfrm>
        </p:spPr>
        <p:txBody>
          <a:bodyPr>
            <a:normAutofit fontScale="92500"/>
          </a:bodyPr>
          <a:lstStyle/>
          <a:p>
            <a:r>
              <a:rPr lang="es-MX" b="1" dirty="0" err="1"/>
              <a:t>Power</a:t>
            </a:r>
            <a:r>
              <a:rPr lang="es-MX" b="1" dirty="0"/>
              <a:t> BI (Microsoft)</a:t>
            </a:r>
            <a:endParaRPr lang="es-MX" dirty="0"/>
          </a:p>
          <a:p>
            <a:r>
              <a:rPr lang="es-MX" sz="2100" dirty="0"/>
              <a:t>Ventajas: integración con Excel/SharePoint/</a:t>
            </a:r>
            <a:r>
              <a:rPr lang="es-MX" sz="2100" dirty="0" err="1"/>
              <a:t>Teams</a:t>
            </a:r>
            <a:r>
              <a:rPr lang="es-MX" sz="2100" dirty="0"/>
              <a:t>, </a:t>
            </a:r>
            <a:r>
              <a:rPr lang="es-MX" sz="2100" dirty="0" err="1"/>
              <a:t>Power</a:t>
            </a:r>
            <a:r>
              <a:rPr lang="es-MX" sz="2100" dirty="0"/>
              <a:t> </a:t>
            </a:r>
            <a:r>
              <a:rPr lang="es-MX" sz="2100" dirty="0" err="1"/>
              <a:t>Query</a:t>
            </a:r>
            <a:r>
              <a:rPr lang="es-MX" sz="2100" dirty="0"/>
              <a:t> (ETL), DAX (medidas), costo competitivo, gobierno con </a:t>
            </a:r>
            <a:r>
              <a:rPr lang="es-MX" sz="2100" dirty="0" err="1"/>
              <a:t>workspace</a:t>
            </a:r>
            <a:r>
              <a:rPr lang="es-MX" sz="2100" dirty="0"/>
              <a:t>. </a:t>
            </a:r>
          </a:p>
          <a:p>
            <a:r>
              <a:rPr lang="es-MX" sz="2100" dirty="0"/>
              <a:t>Ideal cuando los datos nacen en Excel/CSV y se requiere rapidez de implementación.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F1A5DEE-D2A0-418A-A139-A3D1DEC77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67518" y="1825625"/>
            <a:ext cx="3455894" cy="3535269"/>
          </a:xfrm>
        </p:spPr>
        <p:txBody>
          <a:bodyPr>
            <a:normAutofit fontScale="92500"/>
          </a:bodyPr>
          <a:lstStyle/>
          <a:p>
            <a:r>
              <a:rPr lang="es-MX" b="1" dirty="0" err="1"/>
              <a:t>Tableau</a:t>
            </a:r>
            <a:endParaRPr lang="es-MX" dirty="0"/>
          </a:p>
          <a:p>
            <a:r>
              <a:rPr lang="es-MX" sz="2100" dirty="0"/>
              <a:t>Ventajas: muy fuerte en visualización y exploración; excelente para </a:t>
            </a:r>
            <a:r>
              <a:rPr lang="es-MX" sz="2100" dirty="0" err="1"/>
              <a:t>storytelling</a:t>
            </a:r>
            <a:r>
              <a:rPr lang="es-MX" sz="2100" dirty="0"/>
              <a:t> visual. </a:t>
            </a:r>
          </a:p>
          <a:p>
            <a:r>
              <a:rPr lang="es-MX" sz="2100" dirty="0"/>
              <a:t>Consideración: licenciamiento generalmente más alto; preparación de datos suele requerir más trabajo externo o </a:t>
            </a:r>
            <a:r>
              <a:rPr lang="es-MX" sz="2100" dirty="0" err="1"/>
              <a:t>Tableau</a:t>
            </a:r>
            <a:r>
              <a:rPr lang="es-MX" sz="2100" dirty="0"/>
              <a:t> </a:t>
            </a:r>
            <a:r>
              <a:rPr lang="es-MX" sz="2100" dirty="0" err="1"/>
              <a:t>Prep</a:t>
            </a:r>
            <a:r>
              <a:rPr lang="es-MX" sz="2100" dirty="0"/>
              <a:t>.</a:t>
            </a:r>
          </a:p>
          <a:p>
            <a:pPr marL="0" indent="0">
              <a:buNone/>
            </a:pPr>
            <a:endParaRPr lang="es-CL" dirty="0"/>
          </a:p>
        </p:txBody>
      </p:sp>
      <p:sp>
        <p:nvSpPr>
          <p:cNvPr id="5" name="Marcador de contenido 3">
            <a:extLst>
              <a:ext uri="{FF2B5EF4-FFF2-40B4-BE49-F238E27FC236}">
                <a16:creationId xmlns:a16="http://schemas.microsoft.com/office/drawing/2014/main" id="{76AA48ED-7B15-4E26-B4F8-6E75EE53512D}"/>
              </a:ext>
            </a:extLst>
          </p:cNvPr>
          <p:cNvSpPr txBox="1">
            <a:spLocks/>
          </p:cNvSpPr>
          <p:nvPr/>
        </p:nvSpPr>
        <p:spPr>
          <a:xfrm>
            <a:off x="8113059" y="1897343"/>
            <a:ext cx="3455894" cy="3463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 err="1"/>
              <a:t>Looker</a:t>
            </a:r>
            <a:r>
              <a:rPr lang="es-MX" b="1" dirty="0"/>
              <a:t> Studio</a:t>
            </a:r>
            <a:endParaRPr lang="es-MX" dirty="0"/>
          </a:p>
          <a:p>
            <a:r>
              <a:rPr lang="es-MX" sz="2100" dirty="0"/>
              <a:t>Ventajas: simple, rápido, muy útil para reportes ligeros (especialmente ecosistema Google). </a:t>
            </a:r>
          </a:p>
          <a:p>
            <a:r>
              <a:rPr lang="es-MX" sz="2100" dirty="0"/>
              <a:t>Consideración: modelado avanzado, gobernanza y performance más limitados que </a:t>
            </a:r>
            <a:r>
              <a:rPr lang="es-MX" sz="2100" dirty="0" err="1"/>
              <a:t>Power</a:t>
            </a:r>
            <a:r>
              <a:rPr lang="es-MX" sz="2100" dirty="0"/>
              <a:t> BI en escenarios corporativos.</a:t>
            </a:r>
          </a:p>
          <a:p>
            <a:pPr marL="0" indent="0">
              <a:buNone/>
            </a:pPr>
            <a:endParaRPr lang="es-CL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8A143E5-75D9-48CF-87C0-92CBDA791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6482" y="5495831"/>
            <a:ext cx="3536577" cy="12505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950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CF05BE-99E9-489D-9BC1-5FF96E23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¿Por qué </a:t>
            </a:r>
            <a:r>
              <a:rPr lang="es-MX" dirty="0" err="1"/>
              <a:t>Power</a:t>
            </a:r>
            <a:r>
              <a:rPr lang="es-MX" dirty="0"/>
              <a:t> BI para </a:t>
            </a:r>
            <a:r>
              <a:rPr lang="es-MX" dirty="0" err="1"/>
              <a:t>SmartRetail</a:t>
            </a:r>
            <a:r>
              <a:rPr lang="es-MX" dirty="0"/>
              <a:t>?</a:t>
            </a:r>
            <a:endParaRPr lang="es-CL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9F7BA4-29C1-49B4-BF0D-B1F5A24FB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8886" y="987425"/>
            <a:ext cx="5480804" cy="4873625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0FDF960-549E-4FD7-A941-BB4EB787E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765612"/>
            <a:ext cx="3932237" cy="3811588"/>
          </a:xfrm>
        </p:spPr>
        <p:txBody>
          <a:bodyPr/>
          <a:lstStyle/>
          <a:p>
            <a:r>
              <a:rPr lang="es-MX" b="1" dirty="0" err="1"/>
              <a:t>Power</a:t>
            </a:r>
            <a:r>
              <a:rPr lang="es-MX" b="1" dirty="0"/>
              <a:t> BI Desktop (desarrollo):</a:t>
            </a:r>
            <a:r>
              <a:rPr lang="es-MX" dirty="0"/>
              <a:t> importar, transformar, modelar, crear </a:t>
            </a:r>
            <a:r>
              <a:rPr lang="es-MX" dirty="0" err="1"/>
              <a:t>visuals</a:t>
            </a:r>
            <a:r>
              <a:rPr lang="es-MX" dirty="0"/>
              <a:t>.</a:t>
            </a:r>
            <a:br>
              <a:rPr lang="es-MX" dirty="0"/>
            </a:br>
            <a:r>
              <a:rPr lang="es-MX" b="1" dirty="0" err="1"/>
              <a:t>Power</a:t>
            </a:r>
            <a:r>
              <a:rPr lang="es-MX" b="1" dirty="0"/>
              <a:t> </a:t>
            </a:r>
            <a:r>
              <a:rPr lang="es-MX" b="1" dirty="0" err="1"/>
              <a:t>Query</a:t>
            </a:r>
            <a:r>
              <a:rPr lang="es-MX" b="1" dirty="0"/>
              <a:t>:</a:t>
            </a:r>
            <a:r>
              <a:rPr lang="es-MX" dirty="0"/>
              <a:t> limpieza/estandarización (nombres, tipos, nulos).</a:t>
            </a:r>
            <a:br>
              <a:rPr lang="es-MX" dirty="0"/>
            </a:br>
            <a:r>
              <a:rPr lang="es-MX" b="1" dirty="0"/>
              <a:t>Modelo + DAX:</a:t>
            </a:r>
            <a:r>
              <a:rPr lang="es-MX" dirty="0"/>
              <a:t> medidas (ventas totales), columnas calculadas (estado inventario).</a:t>
            </a:r>
            <a:br>
              <a:rPr lang="es-MX" dirty="0"/>
            </a:br>
            <a:r>
              <a:rPr lang="es-MX" b="1" dirty="0"/>
              <a:t>Reporte:</a:t>
            </a:r>
            <a:r>
              <a:rPr lang="es-MX" dirty="0"/>
              <a:t> </a:t>
            </a:r>
            <a:r>
              <a:rPr lang="es-MX" dirty="0" err="1"/>
              <a:t>dashboard</a:t>
            </a:r>
            <a:r>
              <a:rPr lang="es-MX" dirty="0"/>
              <a:t> con </a:t>
            </a:r>
            <a:r>
              <a:rPr lang="es-MX" dirty="0" err="1"/>
              <a:t>segmentadores</a:t>
            </a:r>
            <a:r>
              <a:rPr lang="es-MX" dirty="0"/>
              <a:t>, gráficos y tablas.</a:t>
            </a:r>
            <a:br>
              <a:rPr lang="es-MX" dirty="0"/>
            </a:br>
            <a:r>
              <a:rPr lang="es-MX" b="1" dirty="0"/>
              <a:t>Resultado:</a:t>
            </a:r>
            <a:r>
              <a:rPr lang="es-MX" dirty="0"/>
              <a:t> primer entregable BI funcional y escalable.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4647075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367</Words>
  <Application>Microsoft Office PowerPoint</Application>
  <PresentationFormat>Panorámica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PowerBI Análisis de Datos</vt:lpstr>
      <vt:lpstr>¿Qué es un sistema BI (Business Intelligence)? </vt:lpstr>
      <vt:lpstr>¿Qué es BI y por qué importa?</vt:lpstr>
      <vt:lpstr>Comparación de suites BI (Power BI vs Tableau vs Looker Studio)</vt:lpstr>
      <vt:lpstr>¿Por qué Power BI para SmartRetail?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PowerBI Análisis de Datos</dc:title>
  <dc:creator>Leonardo Melgarejo Uribe</dc:creator>
  <cp:lastModifiedBy>Leonardo Melgarejo Uribe</cp:lastModifiedBy>
  <cp:revision>1</cp:revision>
  <dcterms:created xsi:type="dcterms:W3CDTF">2026-04-15T12:03:55Z</dcterms:created>
  <dcterms:modified xsi:type="dcterms:W3CDTF">2026-04-15T12:50:20Z</dcterms:modified>
</cp:coreProperties>
</file>